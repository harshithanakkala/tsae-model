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  <p:embeddedFont>
      <p:font typeface="Lustria"/>
      <p:regular r:id="rId24"/>
    </p:embeddedFont>
    <p:embeddedFont>
      <p:font typeface="Open Sans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FFDC2-E762-4C7F-AB6F-2C573BE3EBA8}">
  <a:tblStyle styleId="{B8EFFDC2-E762-4C7F-AB6F-2C573BE3EB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Lustria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222171" y="6356350"/>
            <a:ext cx="57476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0"/>
            <a:ext cx="6076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ITAM, Tekkali (@AitamOfficial) / Posts / X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7974" y="247411"/>
            <a:ext cx="1084654" cy="1084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am | Tekkali" id="16" name="Google Shape;16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55555" y="69158"/>
            <a:ext cx="1441159" cy="14411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hyperlink" Target="https://dl.acm.org/doi/fullHtml/10.1145/3627631.362765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6.jp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4.jpg"/><Relationship Id="rId5" Type="http://schemas.openxmlformats.org/officeDocument/2006/relationships/image" Target="../media/image13.jpg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1570757" y="2223041"/>
            <a:ext cx="950537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Temporal–Spatial Autoencoder for EEG Eye-State Anomaly Detection</a:t>
            </a:r>
            <a:endParaRPr/>
          </a:p>
        </p:txBody>
      </p:sp>
      <p:pic>
        <p:nvPicPr>
          <p:cNvPr descr="AITAM, Tekkali (@AitamOfficial) / Posts / X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74" y="247411"/>
            <a:ext cx="1084654" cy="1084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tam | Tekkali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5555" y="69158"/>
            <a:ext cx="1441159" cy="14411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2919147" y="3735984"/>
            <a:ext cx="7182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ADITYA INSTITUTE OF TECHNOLOGY AND MANAGEMENT</a:t>
            </a:r>
            <a:endParaRPr b="1" sz="18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1147666" y="4654020"/>
            <a:ext cx="10030408" cy="142915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type="title"/>
          </p:nvPr>
        </p:nvSpPr>
        <p:spPr>
          <a:xfrm>
            <a:off x="1452777" y="147986"/>
            <a:ext cx="9286445" cy="500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800"/>
              <a:buFont typeface="Helvetica Neue"/>
              <a:buNone/>
            </a:pPr>
            <a:r>
              <a:rPr b="1" lang="en-US" sz="2800">
                <a:solidFill>
                  <a:srgbClr val="323F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b="1" sz="3200">
              <a:solidFill>
                <a:srgbClr val="323F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3976" y="2578539"/>
            <a:ext cx="50735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Drowsy driving causes </a:t>
            </a:r>
            <a:r>
              <a:rPr b="1" lang="en-US"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17.6 %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lang="en-US"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20%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all </a:t>
            </a:r>
            <a:b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accidents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5073522" y="1497042"/>
            <a:ext cx="6676055" cy="2510647"/>
            <a:chOff x="5229806" y="918353"/>
            <a:chExt cx="6676055" cy="2510647"/>
          </a:xfrm>
        </p:grpSpPr>
        <p:pic>
          <p:nvPicPr>
            <p:cNvPr id="102" name="Google Shape;10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13782" y="1999850"/>
              <a:ext cx="6500327" cy="1429150"/>
            </a:xfrm>
            <a:prstGeom prst="rect">
              <a:avLst/>
            </a:prstGeom>
            <a:solidFill>
              <a:srgbClr val="ECECEC"/>
            </a:solidFill>
            <a:ln cap="sq" cmpd="sng" w="889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5000" rotWithShape="0" algn="tl" dir="5400000" dist="18000">
                <a:srgbClr val="000000">
                  <a:alpha val="40000"/>
                </a:srgbClr>
              </a:outerShdw>
            </a:effectLst>
          </p:spPr>
        </p:pic>
        <p:pic>
          <p:nvPicPr>
            <p:cNvPr id="103" name="Google Shape;10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9806" y="918353"/>
              <a:ext cx="6676055" cy="10814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4"/>
          <p:cNvSpPr txBox="1"/>
          <p:nvPr/>
        </p:nvSpPr>
        <p:spPr>
          <a:xfrm>
            <a:off x="1616295" y="4830603"/>
            <a:ext cx="8959407" cy="88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90% Failure in Adverse Conditions: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Current camera-based monitors (DMS) fail when drivers wear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polarized sunglasses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face masks, or encounter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low-light/glare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environments.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652023" y="4135239"/>
            <a:ext cx="6097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https://dl.acm.org/doi/fullHtml/10.1145/3627631.3627656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1452777" y="147986"/>
            <a:ext cx="9286445" cy="500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2800"/>
              <a:buFont typeface="Helvetica Neue"/>
              <a:buNone/>
            </a:pPr>
            <a:r>
              <a:rPr b="1" lang="en-US" sz="2800">
                <a:solidFill>
                  <a:srgbClr val="222A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b="1" sz="3200">
              <a:solidFill>
                <a:srgbClr val="222A3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945123" y="1887897"/>
            <a:ext cx="6830110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"Rare Event" Data Gap: Traditional AI requires thousands of "accident" or "eye-closure" samples to learn; however, in real-world driving or aviation, these life-threatening events are statistically rare and unpredictable.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red Eyes After a Long Drive ...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323" y="1415177"/>
            <a:ext cx="3278414" cy="210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945123" y="1326243"/>
            <a:ext cx="6097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Scarcity Gap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67577" y="3963460"/>
            <a:ext cx="6097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&amp; User Intrusiveness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67577" y="4517493"/>
            <a:ext cx="6830111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video monitoring is often rejected by drivers, pilots, and patients due to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concerns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a significant barrier to the widespread adoption of safety tech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 Video Icon PNG Images, Vectors Free ...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31060" y="380799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vacy Icon Images – Browse 1,352,987 ...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2030" y="3163360"/>
            <a:ext cx="1423988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439996" y="4292418"/>
            <a:ext cx="3778792" cy="242245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136135" y="1413582"/>
            <a:ext cx="3377841" cy="28056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264973" y="1369798"/>
            <a:ext cx="3778792" cy="28056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393811" y="1427585"/>
            <a:ext cx="3778792" cy="28056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896086" y="143124"/>
            <a:ext cx="43998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Idea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44065" y="5336152"/>
            <a:ext cx="3491980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Ultra-Fast Response</a:t>
            </a:r>
            <a:b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at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0.267 ms—over 300x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faster than a human blink.</a:t>
            </a:r>
            <a:endParaRPr/>
          </a:p>
        </p:txBody>
      </p:sp>
      <p:pic>
        <p:nvPicPr>
          <p:cNvPr descr="No Camera Icon PNG Images, Vectors Free ...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3728" y="1427585"/>
            <a:ext cx="1618958" cy="161895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44065" y="2845736"/>
            <a:ext cx="3491980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Camera-Free Monitoring </a:t>
            </a:r>
            <a:b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neural signals (EEG) to track eye-states with zero privacy issues.  </a:t>
            </a:r>
            <a:endParaRPr/>
          </a:p>
        </p:txBody>
      </p:sp>
      <p:pic>
        <p:nvPicPr>
          <p:cNvPr descr="Free photo: Closed eye - Closed, Eye, Eyebrowns - Free Download - Jooinn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9604" y="1548198"/>
            <a:ext cx="2301551" cy="129462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4264973" y="2845736"/>
            <a:ext cx="3753238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Training</a:t>
            </a:r>
            <a:b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only on alert data to detect eye-closure as a mathematical anomaly.  </a:t>
            </a:r>
            <a:endParaRPr/>
          </a:p>
        </p:txBody>
      </p:sp>
      <p:grpSp>
        <p:nvGrpSpPr>
          <p:cNvPr id="132" name="Google Shape;132;p16"/>
          <p:cNvGrpSpPr/>
          <p:nvPr/>
        </p:nvGrpSpPr>
        <p:grpSpPr>
          <a:xfrm>
            <a:off x="8304623" y="1612647"/>
            <a:ext cx="2599031" cy="1301517"/>
            <a:chOff x="7645981" y="1890633"/>
            <a:chExt cx="1744498" cy="984075"/>
          </a:xfrm>
        </p:grpSpPr>
        <p:pic>
          <p:nvPicPr>
            <p:cNvPr descr="Sensory-Motor Brain Networks are Coupled with the Stomach's Rhythm —  BrainPost | Easy-to-read summaries of the latest neuroscience publications" id="133" name="Google Shape;133;p16"/>
            <p:cNvPicPr preferRelativeResize="0"/>
            <p:nvPr/>
          </p:nvPicPr>
          <p:blipFill rotWithShape="1">
            <a:blip r:embed="rId5">
              <a:alphaModFix/>
            </a:blip>
            <a:srcRect b="8077" l="52000" r="11703" t="21086"/>
            <a:stretch/>
          </p:blipFill>
          <p:spPr>
            <a:xfrm>
              <a:off x="8295913" y="1890633"/>
              <a:ext cx="1094566" cy="98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ensory-Motor Brain Networks are Coupled with the Stomach's Rhythm —  BrainPost | Easy-to-read summaries of the latest neuroscience publications" id="134" name="Google Shape;134;p16"/>
            <p:cNvPicPr preferRelativeResize="0"/>
            <p:nvPr/>
          </p:nvPicPr>
          <p:blipFill rotWithShape="1">
            <a:blip r:embed="rId5">
              <a:alphaModFix/>
            </a:blip>
            <a:srcRect b="8077" l="8294" r="50498" t="25094"/>
            <a:stretch/>
          </p:blipFill>
          <p:spPr>
            <a:xfrm>
              <a:off x="7645981" y="1997659"/>
              <a:ext cx="1030705" cy="770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16"/>
          <p:cNvSpPr txBox="1"/>
          <p:nvPr/>
        </p:nvSpPr>
        <p:spPr>
          <a:xfrm>
            <a:off x="8257009" y="2845736"/>
            <a:ext cx="3166408" cy="116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Spatio-Temporal Intelligence</a:t>
            </a:r>
            <a:b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Simultaneously captures rhythm and brain-region interactions.  </a:t>
            </a:r>
            <a:endParaRPr/>
          </a:p>
        </p:txBody>
      </p:sp>
      <p:pic>
        <p:nvPicPr>
          <p:cNvPr descr="Fast chat vector logo with speed meter. This logo is suitable for fast  response time, comment. Stock Vector | Adobe Stock" id="136" name="Google Shape;136;p16"/>
          <p:cNvPicPr preferRelativeResize="0"/>
          <p:nvPr/>
        </p:nvPicPr>
        <p:blipFill rotWithShape="1">
          <a:blip r:embed="rId6">
            <a:alphaModFix/>
          </a:blip>
          <a:srcRect b="40332" l="13770" r="30997" t="20969"/>
          <a:stretch/>
        </p:blipFill>
        <p:spPr>
          <a:xfrm>
            <a:off x="1473728" y="4500662"/>
            <a:ext cx="1466287" cy="925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560243" y="4869617"/>
            <a:ext cx="6505390" cy="88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We propose a Temporal–Spatial Autoencoder for EEG eye-state anomaly detection using only normal data.</a:t>
            </a:r>
            <a:endParaRPr b="1" sz="1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91986\Desktop\EEG Paper CSM-Updated as per comments\Figure 1-eeg cm.drawio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305" y="1145799"/>
            <a:ext cx="4902873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2598888" y="160523"/>
            <a:ext cx="69942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Overall Framework of Proposed Method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120983" y="6174257"/>
            <a:ext cx="101503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1. Overall processing pipeline of the proposed TSAE-based EEG eye-state anomaly detection framework.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91986\Desktop\EEG Paper CSM-Updated as per comments\Figure 2-EEG CSM ver1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320" y="1480128"/>
            <a:ext cx="7619360" cy="41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2286320" y="271791"/>
            <a:ext cx="747382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Temporal–Spatial Autoencoder (TSAE) </a:t>
            </a:r>
            <a:b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491847" y="6062989"/>
            <a:ext cx="61042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2. Architecture of the proposed Temporal–Spatial Autoencoder (TSAE).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3446076" y="175530"/>
            <a:ext cx="52998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&amp; Experimental Setup</a:t>
            </a:r>
            <a:endParaRPr/>
          </a:p>
        </p:txBody>
      </p:sp>
      <p:pic>
        <p:nvPicPr>
          <p:cNvPr descr="High-Quality Dataset PNG Icons for Your ...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058" y="1748123"/>
            <a:ext cx="1721595" cy="17215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2496717" y="1777573"/>
            <a:ext cx="6097554" cy="167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UCI EEG Eye-State Dataset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14 EEG Channels (10–20 System)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Sampling Rate ≈ 128 Hz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14,980 EEG Samples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Eye Open / Eye Closed Labels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916683" y="3490780"/>
            <a:ext cx="11103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7880361" y="1888296"/>
            <a:ext cx="3629843" cy="139775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4603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Window Length = 256 samples</a:t>
            </a:r>
            <a:endParaRPr/>
          </a:p>
          <a:p>
            <a:pPr indent="-285750" lvl="0" marL="4603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One-Class </a:t>
            </a:r>
            <a:r>
              <a:rPr b="1"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(Eye-Open Only)</a:t>
            </a:r>
            <a:endParaRPr/>
          </a:p>
          <a:p>
            <a:pPr indent="-285750" lvl="0" marL="4603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Strict Temporal Train–Test Split</a:t>
            </a:r>
            <a:endParaRPr/>
          </a:p>
          <a:p>
            <a:pPr indent="-285750" lvl="0" marL="4603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Leakage-Free Evaluation</a:t>
            </a:r>
            <a:endParaRPr/>
          </a:p>
        </p:txBody>
      </p:sp>
      <p:pic>
        <p:nvPicPr>
          <p:cNvPr descr="Experimental Design - What It Is, Examples, Principles, Types" id="161" name="Google Shape;161;p19"/>
          <p:cNvPicPr preferRelativeResize="0"/>
          <p:nvPr/>
        </p:nvPicPr>
        <p:blipFill rotWithShape="1">
          <a:blip r:embed="rId4">
            <a:alphaModFix/>
          </a:blip>
          <a:srcRect b="39630" l="36337" r="42983" t="29646"/>
          <a:stretch/>
        </p:blipFill>
        <p:spPr>
          <a:xfrm>
            <a:off x="5956042" y="1748123"/>
            <a:ext cx="1821683" cy="163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85284" y="3490780"/>
            <a:ext cx="25309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/>
          </a:p>
        </p:txBody>
      </p:sp>
      <p:pic>
        <p:nvPicPr>
          <p:cNvPr descr="One Class SVM(OC-SVM). We all know that ...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51" y="4579689"/>
            <a:ext cx="2326657" cy="157667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03210" y="4189294"/>
            <a:ext cx="7193902" cy="381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Compared Models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349898" y="6164985"/>
            <a:ext cx="2943808" cy="5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One Class Support Vector Machine (OCSVM)</a:t>
            </a:r>
            <a:endParaRPr/>
          </a:p>
        </p:txBody>
      </p:sp>
      <p:pic>
        <p:nvPicPr>
          <p:cNvPr descr="Isolation Forest Anomaly Detection ..." id="166" name="Google Shape;166;p19"/>
          <p:cNvPicPr preferRelativeResize="0"/>
          <p:nvPr/>
        </p:nvPicPr>
        <p:blipFill rotWithShape="1">
          <a:blip r:embed="rId6">
            <a:alphaModFix/>
          </a:blip>
          <a:srcRect b="2678" l="0" r="0" t="17941"/>
          <a:stretch/>
        </p:blipFill>
        <p:spPr>
          <a:xfrm>
            <a:off x="3452670" y="4477572"/>
            <a:ext cx="3414213" cy="162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4152347" y="6164985"/>
            <a:ext cx="1943653" cy="32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Isolation Forest (IF)</a:t>
            </a:r>
            <a:endParaRPr/>
          </a:p>
        </p:txBody>
      </p:sp>
      <p:pic>
        <p:nvPicPr>
          <p:cNvPr descr="Autoencoder - Wikipedia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4826" y="4559049"/>
            <a:ext cx="1606766" cy="146318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490998" y="6151654"/>
            <a:ext cx="2407298" cy="5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Conventional Autoencoder (AE)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9605211" y="4906360"/>
            <a:ext cx="16010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TSAE</a:t>
            </a:r>
            <a:endParaRPr b="1" sz="5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9019594" y="6151653"/>
            <a:ext cx="2633564" cy="5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Proposed Temporal–Spatial Autoencoder (TSAE)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165019" y="416628"/>
            <a:ext cx="386195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&amp; Discussion</a:t>
            </a:r>
            <a:endParaRPr/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661246" y="2786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{B8EFFDC2-E762-4C7F-AB6F-2C573BE3EBA8}</a:tableStyleId>
              </a:tblPr>
              <a:tblGrid>
                <a:gridCol w="1643125"/>
                <a:gridCol w="1032050"/>
                <a:gridCol w="1029975"/>
                <a:gridCol w="1807350"/>
                <a:gridCol w="1719875"/>
                <a:gridCol w="1914225"/>
                <a:gridCol w="1722900"/>
              </a:tblGrid>
              <a:tr h="883100"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Model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ROC- AUC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PR- AUC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Recall  @ FAR =1%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Recall @ FAR =5%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Recall  @ FAR =10%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B43500"/>
                          </a:solidFill>
                        </a:rPr>
                        <a:t>FAR at  80% Recall</a:t>
                      </a:r>
                      <a:endParaRPr b="1" sz="1600" u="none" cap="none" strike="noStrike">
                        <a:solidFill>
                          <a:srgbClr val="B435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461325"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OCSVM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0.7667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0.8306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0.3333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0.3333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—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0.2000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461325"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IF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0.8667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0.8972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0.5000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0.5000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0.5000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0.2000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461325"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AE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0.9667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0.9762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0.8333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0.8333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0.8333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528725"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Proposed TSAE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1.0000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1.0000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1.0000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1.0000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1.0000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144145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2060"/>
                          </a:solidFill>
                        </a:rPr>
                        <a:t>0.0000</a:t>
                      </a:r>
                      <a:endParaRPr b="1" sz="16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1889990" y="2273590"/>
            <a:ext cx="84120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144463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Table 1. Performance comparison of anomaly detection models.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07165" y="1575881"/>
            <a:ext cx="51070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Quantitative Performance Comparison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61246" y="5889119"/>
            <a:ext cx="1105800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619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perfect ROC-AUC should be interpreted within the controlled dataset setting and leakage-free evaluation protocol.</a:t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:\ASUS LAPTOP BACK UP AS ON [05.02.2026]\2025  STNDTS PROJECTS\CSM EEG PLOTS\ROC CURVES COMP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647" y="1148044"/>
            <a:ext cx="3669883" cy="2844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:\ASUS LAPTOP BACK UP AS ON [05.02.2026]\2025  STNDTS PROJECTS\CSM EEG PLOTS\PR CURVES COMP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4975" y="1176724"/>
            <a:ext cx="3763236" cy="291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6563210" y="4133649"/>
            <a:ext cx="48573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Figure 4. Precision–Recall curve comparison of all models.</a:t>
            </a:r>
            <a:endParaRPr b="1"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963732" y="305067"/>
            <a:ext cx="62645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A38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ROC and Precision–Recall Analysis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352682" y="4919138"/>
            <a:ext cx="3604392" cy="1048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55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ROC and PR Curve Comparison</a:t>
            </a:r>
            <a:endParaRPr/>
          </a:p>
          <a:p>
            <a:pPr indent="-285750" lvl="0" marL="51435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Performance evaluated under class imbalance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368647" y="4148298"/>
            <a:ext cx="36043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Figure 3. ROC curve comparison of all models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8186463" y="4919138"/>
            <a:ext cx="3363496" cy="1061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355600" marR="0" rtl="0" algn="l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Key Result</a:t>
            </a:r>
            <a:endParaRPr/>
          </a:p>
          <a:p>
            <a:pPr indent="-431800" lvl="0" marL="744538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TSAE achieves perfect discrimination between normal and eye-closure EEG windows</a:t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171310" y="4733578"/>
            <a:ext cx="3867330" cy="2044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355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/>
          </a:p>
          <a:p>
            <a:pPr indent="-285750" lvl="0" marL="5794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Classical models show limited separation</a:t>
            </a:r>
            <a:endParaRPr/>
          </a:p>
          <a:p>
            <a:pPr indent="-285750" lvl="0" marL="5794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Autoencoder improves detection capability</a:t>
            </a:r>
            <a:endParaRPr/>
          </a:p>
          <a:p>
            <a:pPr indent="-285750" lvl="0" marL="5794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Proposed TSAE dominates entire operating region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:\ASUS LAPTOP BACK UP AS ON [05.02.2026]\2025  STNDTS PROJECTS\CSM EEG PLOTS\FAR curv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728" y="1600200"/>
            <a:ext cx="515498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3136363" y="365624"/>
            <a:ext cx="571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A38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 Alarm Rate (FAR) Analysis</a:t>
            </a:r>
            <a:endParaRPr b="1" sz="2800">
              <a:solidFill>
                <a:srgbClr val="3A38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62932" y="1873017"/>
            <a:ext cx="4388987" cy="28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55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2F549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 Alarm Controlled Performance</a:t>
            </a:r>
            <a:endParaRPr/>
          </a:p>
          <a:p>
            <a:pPr indent="-341313" lvl="0" marL="579438" marR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Evaluates practical operating reliability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55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2F549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Findings</a:t>
            </a:r>
            <a:endParaRPr/>
          </a:p>
          <a:p>
            <a:pPr indent="-341313" lvl="0" marL="579438" marR="0" rtl="0" algn="just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Recall = 1.0 even at low FAR levels</a:t>
            </a:r>
            <a:endParaRPr/>
          </a:p>
          <a:p>
            <a:pPr indent="-341313" lvl="0" marL="579438" marR="0" rtl="0" algn="just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0% False Alarms required for 80% Recall</a:t>
            </a:r>
            <a:endParaRPr/>
          </a:p>
          <a:p>
            <a:pPr indent="-341313" lvl="0" marL="579438" marR="0" rtl="0" algn="just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Stable performance across thresholds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55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2F549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Practical Insight</a:t>
            </a:r>
            <a:endParaRPr/>
          </a:p>
          <a:p>
            <a:pPr indent="-341313" lvl="0" marL="579438" marR="0" rtl="0" algn="just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Suitable for continuous real-time EEG monitoring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498841" y="5531518"/>
            <a:ext cx="53153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Figure 5. Recall versus false alarm rate for the proposed TSAE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/>
        </p:nvSpPr>
        <p:spPr>
          <a:xfrm>
            <a:off x="5025033" y="34236"/>
            <a:ext cx="21419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1434001" y="1276583"/>
            <a:ext cx="4661998" cy="171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Eye-state detection formulated as</a:t>
            </a:r>
            <a:endParaRPr/>
          </a:p>
          <a:p>
            <a:pPr indent="-338138" lvl="0" marL="6921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One-Class Anomaly Detection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Noto Sans Symbols"/>
              <a:buChar char="✔"/>
            </a:pPr>
            <a:r>
              <a:rPr b="1" lang="en-US" sz="1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Proposed Temporal–Spatial Autoencoder </a:t>
            </a:r>
            <a:endParaRPr/>
          </a:p>
          <a:p>
            <a:pPr indent="-336550" lvl="0" marL="74453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captures temporal &amp; inter-channel EEG structure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Noto Sans Symbols"/>
              <a:buChar char="✔"/>
            </a:pPr>
            <a:r>
              <a:rPr b="1" lang="en-US" sz="1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Leakage-free temporal evaluation framework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6983502" y="3867038"/>
            <a:ext cx="4442329" cy="1720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55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  <a:p>
            <a:pPr indent="-346075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⮚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Cross-subject EEG evaluation</a:t>
            </a:r>
            <a:endParaRPr/>
          </a:p>
          <a:p>
            <a:pPr indent="-346075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⮚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Longer real-world recordings</a:t>
            </a:r>
            <a:endParaRPr/>
          </a:p>
          <a:p>
            <a:pPr indent="-346075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⮚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Lightweight deployment optimization</a:t>
            </a:r>
            <a:endParaRPr/>
          </a:p>
          <a:p>
            <a:pPr indent="-346075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⮚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Real-time monitoring applications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6862202" y="1371366"/>
            <a:ext cx="4442331" cy="134504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Noto Sans Symbols"/>
              <a:buChar char="✔"/>
            </a:pPr>
            <a:r>
              <a:rPr b="1" lang="en-US" sz="14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 Outcomes</a:t>
            </a:r>
            <a:endParaRPr/>
          </a:p>
          <a:p>
            <a:pPr indent="-284163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ROC–AUC = 1.00</a:t>
            </a:r>
            <a:endParaRPr/>
          </a:p>
          <a:p>
            <a:pPr indent="-284163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Reliable detection at low false alarm rates</a:t>
            </a:r>
            <a:endParaRPr/>
          </a:p>
          <a:p>
            <a:pPr indent="-284163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Real-time feasible inference performance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1168432" y="4141587"/>
            <a:ext cx="4927566" cy="10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b="1"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/>
          </a:p>
          <a:p>
            <a:pPr indent="-338138" lvl="0" marL="692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⮚"/>
            </a:pPr>
            <a:r>
              <a:rPr lang="en-US" sz="1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Preserving temporal and spatial EEG structure significantly improves anomaly detection reliability.</a:t>
            </a:r>
            <a:endParaRPr/>
          </a:p>
        </p:txBody>
      </p:sp>
      <p:cxnSp>
        <p:nvCxnSpPr>
          <p:cNvPr id="210" name="Google Shape;210;p23"/>
          <p:cNvCxnSpPr/>
          <p:nvPr/>
        </p:nvCxnSpPr>
        <p:spPr>
          <a:xfrm>
            <a:off x="6325771" y="806094"/>
            <a:ext cx="0" cy="512267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dash"/>
            <a:miter lim="800000"/>
            <a:headEnd len="med" w="med" type="diamond"/>
            <a:tailEnd len="med" w="med" type="diamond"/>
          </a:ln>
        </p:spPr>
      </p:cxnSp>
      <p:cxnSp>
        <p:nvCxnSpPr>
          <p:cNvPr id="211" name="Google Shape;211;p23"/>
          <p:cNvCxnSpPr/>
          <p:nvPr/>
        </p:nvCxnSpPr>
        <p:spPr>
          <a:xfrm rot="10800000">
            <a:off x="1066798" y="3429000"/>
            <a:ext cx="10058401" cy="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dash"/>
            <a:miter lim="800000"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4104378" y="474825"/>
            <a:ext cx="3983243" cy="40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/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927877" y="1632857"/>
            <a:ext cx="9904963" cy="4190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538" lvl="0" marL="363538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Elshewey, A.M., Elaziz, M.A., Mirjalili, S., Ewees, A.A.: EEG-based optimization of eye state classification using modified-BER metaheuristic algorithm. Scientific Reports 14, Art. no. 24489 (2024).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Eid, M.M., Alharbi, A.H., Alhussan, A.A., Towfek, S.K., Adlan, F., Khafaga, D.S.: Classification of eye states using EEG data: a comparative analysis of machine learning algorithms. In: Proc. 4th International Conference on Electronic Engineering (ICEEM), pp. 1–7. IEEE, Menouf (2025).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Raza, A., Yusoff, M.Z.: Deep learning approaches for EEG-motor imagery-based BCIs: Current models, generalization challenges, and emerging trends. IEEE Access 13, 151866–151893 (2025).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Abooelzahab, D.M., Zaher, N., Soliman, A.H., Chibelushi, C.: Deep learning vs. conventional techniques for processing and classifying EEG brain disorders: A survey. In: Proc. International Congress on Human–Computer Interaction, Optimization and Robotic Applications (HORA), pp. 1–6. IEEE, Istanbul (2024).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Saghafi, A., Tsokos, C.P., Farhidzadeh, H.: Common spatial pattern method for real-time eye state identification using electroencephalogram signals. IET Signal Processing 11(8), 936–941 (2017).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Sun, C., Mou, C.: Survey on the research direction of EEG-based signal processing. Frontiers in Neuroscience 17, Art. no. 1203059 (2023).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Abibullaev, B., Keutayeva, A., Zollanvari, A.: Deep learning in EEG-based BCIs: A comprehensive review of transformer models, advantages, challenges, and applications. IEEE Access 11, 127271–127301 (2023).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Mondal, S., Nag, A.: A computational eye state classification model using EEG signal based on data mining techniques: comparative analysis. Physical and Engineering Sciences in Medicine 48, 1761–1774 (2025).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Dharmendra, K., Riya, K., Verma, D.K., Vats, S.: Hybrid EEG-based eye state classification using LSTM, neural networks, and multivariate analysis. Journal of Information Technology Management 17(Special Issue on SI: Intelligent Security and Management), 16–31 (2025).</a:t>
            </a:r>
            <a:endParaRPr/>
          </a:p>
          <a:p>
            <a:pPr indent="-363538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050"/>
              <a:buChar char="•"/>
            </a:pPr>
            <a:r>
              <a:rPr b="1" lang="en-US" sz="105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Zeng, Z., et al.: Residual self-calibrated network with multi-scale channel attention for accurate EOG-based eye movement classification. IEEE Journal of Biomedical and Health Informatics 29(1), 118–127 (2025).</a:t>
            </a:r>
            <a:endParaRPr/>
          </a:p>
          <a:p>
            <a:pPr indent="-296863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b="1" sz="1050">
              <a:solidFill>
                <a:srgbClr val="7030A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6863" lvl="0" marL="363538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b="1" sz="1050">
              <a:solidFill>
                <a:srgbClr val="7030A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851773" y="6467138"/>
            <a:ext cx="10488454" cy="57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IEEE 10th  International Conference on Research in Intelligent Computing in Engineering (RICE-2025)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2501900" y="2753751"/>
            <a:ext cx="7239000" cy="1007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ct val="100000"/>
              <a:buFont typeface="Helvetica Neue"/>
              <a:buNone/>
            </a:pPr>
            <a:r>
              <a:rPr b="1" lang="en-US" sz="6000">
                <a:solidFill>
                  <a:srgbClr val="0066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